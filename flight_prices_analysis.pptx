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011680" cy="2011680"/>
          </a:xfrm>
          <a:prstGeom prst="ellipse">
            <a:avLst/>
          </a:prstGeom>
          <a:solidFill>
            <a:srgbClr val="0E7C7B">
              <a:alpha val="3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56692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✈️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PRICES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Domestic Flight Dataset  |  2019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5943600" cy="3200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10,683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4632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₹9,087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04088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(INR)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Engineering · KPI Visualisation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Tech Stack · Rationale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520440"/>
          </a:xfrm>
          <a:prstGeom prst="rect">
            <a:avLst/>
          </a:prstGeom>
          <a:solidFill>
            <a:srgbClr val="E8F4FD"/>
          </a:solidFill>
          <a:ln w="1905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PURPOSE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276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10,683 Indian domestic flight bookings (2019)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12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pricing patterns across airlines, routes &amp; time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968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engineer features from raw string columns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118104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815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 business KPIs with grouped aggregations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602736"/>
            <a:ext cx="164592" cy="16459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566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ML-ready dataset for price prediction models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TECHNOLOGY STACK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00200"/>
            <a:ext cx="109728" cy="50292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6367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scripting language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176272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76272"/>
            <a:ext cx="109728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2128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 pandas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4608" y="2423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&amp; EDA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752344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752344"/>
            <a:ext cx="109728" cy="5029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27889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Matplotlib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bar chart visualisation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32841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328416"/>
            <a:ext cx="109728" cy="50292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364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Google Colab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64608" y="3575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Jupyter environment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904488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904488"/>
            <a:ext cx="109728" cy="502920"/>
          </a:xfrm>
          <a:prstGeom prst="rect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39410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4608" y="4151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dataset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10,683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2880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975104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75104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975104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67328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67328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₹1,759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67328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59552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59552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₹79,512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559552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Price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51776" y="896112"/>
            <a:ext cx="1645920" cy="86868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51776" y="94183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₹9,087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51776" y="13898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43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Reference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31720"/>
          <a:ext cx="8595360" cy="2651760"/>
        </p:xfrm>
        <a:graphic>
          <a:graphicData uri="http://schemas.openxmlformats.org/drawingml/2006/table">
            <a:tbl>
              <a:tblPr/>
              <a:tblGrid>
                <a:gridCol w="2560320"/>
                <a:gridCol w="3291840"/>
                <a:gridCol w="274320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Type / Engineering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Unique Values / Range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5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Airline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 carriers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Date_of_Journey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String→ day/month/yr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44 unique dates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 cities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Destination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6 cities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Route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128 unique routes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Dep_Time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 → dep_hrs/min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222 unique times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Duration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 → mins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368 unique durations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Total_Stops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String → int (0–4)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non-stop to 4 stops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2B55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Integer (TARGET)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₹1,759 – ₹79,512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Sections 1.4 → 1.9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149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Null Imputation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&amp; Total_Stops (1 null each)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Filled with column mode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43200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149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Label 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 Delhi" → "Delhi" in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column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60120"/>
            <a:ext cx="2743200" cy="43891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01498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Date Parsing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1928" y="150876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Date_of_Journey split into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month / year (int)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880360"/>
            <a:ext cx="2743200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9352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Time Parsing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Dep_Time &amp; Arrival_Time → 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dep_hrs, dep_min, Arrival_hrs, Arrival_min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2743200" cy="43891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9352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Duration → Mins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"Xh Ym" → total integer minutes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(patched "5m" anomaly with loc)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880360"/>
            <a:ext cx="2743200" cy="43891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93522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Stops → 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81928" y="34290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"non-stop"→0, "1 stop"→1…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Additional_Info dropped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strings → numeric ML-ready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023360" cy="384048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  (Raw Strings)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914400"/>
            <a:ext cx="4023360" cy="384048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9509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 (Numeric Features)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548640" cy="2743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4528" y="2139696"/>
            <a:ext cx="694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28600" y="1426464"/>
            <a:ext cx="402336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"24/03/2019"  (Date_of_Journey)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1426464"/>
            <a:ext cx="402336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day=24, month=3, year=2019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1975104"/>
            <a:ext cx="402336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"22:20"  (Dep_Time)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1975104"/>
            <a:ext cx="4023360" cy="457200"/>
          </a:xfrm>
          <a:prstGeom prst="rect">
            <a:avLst/>
          </a:prstGeom>
          <a:solidFill>
            <a:srgbClr val="F7FEF9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2029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dep_hrs=22, dep_min=20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523744"/>
            <a:ext cx="402336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"01:10 22 Mar"  (Arrival_Time)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2523744"/>
            <a:ext cx="402336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912" y="25786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Arrival_hrs=1, Arrival_min=10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3072384"/>
            <a:ext cx="402336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"2h 50m"  (Duration)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072384"/>
            <a:ext cx="4023360" cy="457200"/>
          </a:xfrm>
          <a:prstGeom prst="rect">
            <a:avLst/>
          </a:prstGeom>
          <a:solidFill>
            <a:srgbClr val="F7FEF9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Duration_in_mins=170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28600" y="3621024"/>
            <a:ext cx="4023360" cy="45720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 stop"  (Total_Stops)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3621024"/>
            <a:ext cx="402336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Total_Stops=1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28600" y="4169664"/>
            <a:ext cx="4023360" cy="457200"/>
          </a:xfrm>
          <a:prstGeom prst="rect">
            <a:avLst/>
          </a:prstGeom>
          <a:solidFill>
            <a:srgbClr val="FFF5F5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"New Delhi"  (Destination)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4169664"/>
            <a:ext cx="4023360" cy="457200"/>
          </a:xfrm>
          <a:prstGeom prst="rect">
            <a:avLst/>
          </a:prstGeom>
          <a:solidFill>
            <a:srgbClr val="F7FEF9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42245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Destination="Delhi"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PERFORMANCE INDICATORS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Business Questions Answered with Pandas GroupBy &amp; Bar Charts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4592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37744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Airline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77440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50592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0592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Route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0288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0288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🛑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63440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by No. of Stops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03136" y="105156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05156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118872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876288" y="178308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76288" y="201168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Volume by Airline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64592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🏙️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237744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Source Airport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377440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77440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📅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2450592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50592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Price Trend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90288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90288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⏰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4663440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Departure Hour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03136" y="2926080"/>
            <a:ext cx="2029968" cy="1645920"/>
          </a:xfrm>
          <a:prstGeom prst="rect">
            <a:avLst/>
          </a:prstGeom>
          <a:solidFill>
            <a:srgbClr val="112244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2926080"/>
            <a:ext cx="2029968" cy="7315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3136" y="30632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6876288" y="36576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2.8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3886200"/>
            <a:ext cx="1883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Flight Duration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from Phase 2 KPI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868680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64592" cy="1207008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Pricing: Premium vs. Budget Airlines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Jet Airways &amp; Air India have the highest avg ticket fares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824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IndiGo &amp; SpiceJet cluster at the budget end of the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293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Wide ₹4,611 std deviation — strong segmentation opportunity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359152"/>
            <a:ext cx="868680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359152"/>
            <a:ext cx="164592" cy="12070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505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More Stops ≠ Cheaper Tickets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Multi-stop flights COST MORE on average (longer effective routes)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0358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Non-stop flights are priced competitively to attract time-sensitive travellers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2826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Passengers pay a premium for convenience of direct flight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712464"/>
            <a:ext cx="8686800" cy="12070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712464"/>
            <a:ext cx="164592" cy="1207008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0390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Seasonality &amp; Route Concentration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14223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Festival &amp; holiday months show noticeably higher average fares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Delhi &amp; Banglore dominate as source airports (highest volume)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463600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IndiGo leads flight count — largest low-cost network in dataset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937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columns ready for ML modelling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397764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4572000"/>
              </a:tblGrid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Feature(s)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B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Airline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Carrier name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Source / Destination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Departure &amp; arrival city (cleaned)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Route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Full route path (null filled)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day / month / year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Parsed from Date_of_Journey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dep_hrs / dep_min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Parsed from Dep_Time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Arrival_hrs / Arrival_min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Parsed from Arrival_Time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Duration_in_mins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Converted from "Xh Ym" string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Total_Stops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0 = non-stop, 1–4 = stops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2B55"/>
                          </a:solidFill>
                        </a:rPr>
                        <a:t>Price  ⭐ TARGET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</a:rPr>
                        <a:t>Ticket fare in INR (min ₹1,759 | max ₹79,512)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E7C7B">
              <a:alpha val="20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2A541">
              <a:alpha val="15000"/>
            </a:srgbClr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804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NEXT STEPS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7772400" cy="3200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THIS NOTEBOOK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Complete null imputation using mode for Route &amp; Total_Stops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38658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Feature engineering — all string columns converted to numeric integers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7977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8 KPI bar charts answering pricing, volume, route &amp; seasonality 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1729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Dataset cleaned, consistent and ML-ready (15 numeric/string features)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463040"/>
            <a:ext cx="3108960" cy="3337560"/>
          </a:xfrm>
          <a:prstGeom prst="rect">
            <a:avLst/>
          </a:prstGeom>
          <a:solidFill>
            <a:srgbClr val="112244"/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5727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NEXT STEPS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70448" y="2084832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02996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regression models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70448" y="2743200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6883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0448" y="3401568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3467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70448" y="4059936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00507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Streamlit price predictor app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Prices Analysis  |  India 2019 Dataset  |  EDA Complete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Prices Analysis</dc:title>
  <dc:subject>PptxGenJS Presentation</dc:subject>
  <dc:creator>Claude</dc:creator>
  <cp:lastModifiedBy>Claude</cp:lastModifiedBy>
  <cp:revision>1</cp:revision>
  <dcterms:created xsi:type="dcterms:W3CDTF">2026-04-16T11:57:48Z</dcterms:created>
  <dcterms:modified xsi:type="dcterms:W3CDTF">2026-04-16T11:57:48Z</dcterms:modified>
</cp:coreProperties>
</file>